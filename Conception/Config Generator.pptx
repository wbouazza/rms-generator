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50" d="100"/>
          <a:sy n="150" d="100"/>
        </p:scale>
        <p:origin x="-922" y="-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4DB700-5702-646E-3368-934AA70CA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9F1B248-5DA2-A762-9E9B-BC4BE94E0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3EB53A-A0C8-9DA7-3A8B-DF685B6DF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1186-2AAC-406A-9FB7-E2F84C2C61CA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2D6140-DE28-5CD5-532A-12881F593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47A4C7-7502-FD2D-1299-FA138941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CB48-2F05-440A-92DA-88FEB15C2B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9157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4FC605-D7EC-522F-1F78-FEE83A785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1277B3-3F17-D06A-6D15-7BC870565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D61A7D-B9DD-D5DE-DB97-2900C5D12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1186-2AAC-406A-9FB7-E2F84C2C61CA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1D0E20-D951-2F59-9031-11746123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47B20E-F535-7502-09C9-C237117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CB48-2F05-440A-92DA-88FEB15C2B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25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E60B62-B51B-18DD-0449-8C7E703E3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9D7048-505E-C312-45D4-71481C87E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CECF8F-8713-9C97-6FF3-F9070341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1186-2AAC-406A-9FB7-E2F84C2C61CA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79D6E6-D3FB-F626-A82F-D8EE8FF12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5972FC-224B-8977-3655-F22D5DFB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CB48-2F05-440A-92DA-88FEB15C2B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043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C5369-126C-3C47-D7F1-4E3C065A8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998AAC-01F0-0FDE-3689-C1B1B8852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5F8D01-7714-6486-A977-D5E49D557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5B8225-D8B7-A982-414C-C7F4ADFB0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1186-2AAC-406A-9FB7-E2F84C2C61CA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5F288F-8BB6-DC48-8C88-302721E9B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D52887-13C5-1BC7-1736-CFB7EE866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CB48-2F05-440A-92DA-88FEB15C2B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995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28C2F-6C25-2E95-653F-00732E02C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2724E9-7C0A-88F1-C9A0-75663974E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2A19E8-B87F-AB8B-A67D-B3AAEEFDB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C797F9A-6ED3-34A8-BD63-8107D7C90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E697C8C-8CE7-0671-BA14-4B151E1B97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ADECDF-8899-AD6F-B765-D10F893DF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1186-2AAC-406A-9FB7-E2F84C2C61CA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B3A3735-90EB-9068-0305-44398C461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AAB7CF7-4FCC-FC5C-C15C-05E43E5DF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CB48-2F05-440A-92DA-88FEB15C2B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349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1718DA-90B6-2CE3-D956-7CE1EC8DC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28CA5D3-6CCC-54C6-83D2-3665910A8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1186-2AAC-406A-9FB7-E2F84C2C61CA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7FF392-2B61-3107-6814-AFA6491A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BEFFFA-8FBF-B383-6887-077DCF43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CB48-2F05-440A-92DA-88FEB15C2B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842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CB59C34-9B06-5D5F-7BEE-A73E7F5F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1186-2AAC-406A-9FB7-E2F84C2C61CA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72FCB0E-C681-576D-08D9-1A6F4259C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258675-B5D6-9BC4-B764-A6D8E371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CB48-2F05-440A-92DA-88FEB15C2B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717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9118AE-3F4C-EC8D-DAD0-99F51B65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BF9417-4C55-084F-182B-54A8CF774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17EE7F-9743-49C7-2EAF-CA84DFF27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CB5FFB-728B-80E8-47F1-B44A524C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1186-2AAC-406A-9FB7-E2F84C2C61CA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1ABD69-64D7-AD46-DA6E-0547693EE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E0E488-4809-FF87-2CD3-84DA75CBC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CB48-2F05-440A-92DA-88FEB15C2B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6094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3C3D24-DEA2-00D4-B5FF-059FB990B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4DC769E-BA71-E7D2-402D-70BDE6F8B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0BD6C8-083F-A5BD-E2A3-DEB4643D8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A9100B-FF5D-794F-A419-963177070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1186-2AAC-406A-9FB7-E2F84C2C61CA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5D53E1-B424-B638-D798-908BFC71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6ECFC1-D198-4162-ECE5-C6D99ECD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CB48-2F05-440A-92DA-88FEB15C2B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3073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E7ADD8-58D9-9BC2-F657-32BC4CD54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372C614-D204-D42B-68A7-49894AA5F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C20B87-B9E1-5403-7B9E-0598DF2B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1186-2AAC-406A-9FB7-E2F84C2C61CA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B012B3-FC51-6CE8-168A-DBD3519D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132951-25E9-338D-CBA2-A5429B82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CB48-2F05-440A-92DA-88FEB15C2B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7465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A0F5CA1-820B-E922-976F-DD901B72B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7AD210-9292-EAE9-D684-C2F282510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02F1E1-DCA7-3097-6E62-7F5E85FB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1186-2AAC-406A-9FB7-E2F84C2C61CA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C4ECB7-D4C2-EF19-F60F-CB8D48C4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5B203B-048F-2842-1B18-7BB0B2B7D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CB48-2F05-440A-92DA-88FEB15C2B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8098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FA1B323-B039-CC8B-E80B-FFCB10CBF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6508FA-06C6-FF45-277F-1887085ED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3F618A-750D-D292-D3EC-1D36EEBD3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41186-2AAC-406A-9FB7-E2F84C2C61CA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6101C5-6A2B-ECA7-60FA-52A831A5B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9FA567-2EEE-8C16-67FA-7D265D99E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ECB48-2F05-440A-92DA-88FEB15C2B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331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64C8FC8E-C4B7-50BB-69E2-C157A3634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005015"/>
              </p:ext>
            </p:extLst>
          </p:nvPr>
        </p:nvGraphicFramePr>
        <p:xfrm>
          <a:off x="6333796" y="2566835"/>
          <a:ext cx="222123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9">
                  <a:extLst>
                    <a:ext uri="{9D8B030D-6E8A-4147-A177-3AD203B41FA5}">
                      <a16:colId xmlns:a16="http://schemas.microsoft.com/office/drawing/2014/main" val="1531676627"/>
                    </a:ext>
                  </a:extLst>
                </a:gridCol>
                <a:gridCol w="1443542">
                  <a:extLst>
                    <a:ext uri="{9D8B030D-6E8A-4147-A177-3AD203B41FA5}">
                      <a16:colId xmlns:a16="http://schemas.microsoft.com/office/drawing/2014/main" val="1194372009"/>
                    </a:ext>
                  </a:extLst>
                </a:gridCol>
              </a:tblGrid>
              <a:tr h="211374"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1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setup</a:t>
                      </a:r>
                      <a:endParaRPr lang="fr-FR" sz="10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97561"/>
                  </a:ext>
                </a:extLst>
              </a:tr>
              <a:tr h="21137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dirty="0">
                          <a:solidFill>
                            <a:schemeClr val="tx1"/>
                          </a:solidFill>
                        </a:rPr>
                        <a:t>ST≤ PT</a:t>
                      </a:r>
                      <a:r>
                        <a:rPr lang="fr-FR" sz="1000" b="1" dirty="0">
                          <a:ln w="38100"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</a:rPr>
                        <a:t> </a:t>
                      </a:r>
                      <a:endParaRPr lang="fr-FR" sz="10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Identical</a:t>
                      </a:r>
                      <a:endParaRPr lang="fr-FR" sz="1000" b="0" dirty="0">
                        <a:ln w="38100">
                          <a:solidFill>
                            <a:schemeClr val="tx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901064"/>
                  </a:ext>
                </a:extLst>
              </a:tr>
              <a:tr h="31706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</a:rPr>
                        <a:t>Identical </a:t>
                      </a:r>
                    </a:p>
                    <a:p>
                      <a:pPr algn="l"/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</a:rPr>
                        <a:t>+ Family</a:t>
                      </a:r>
                      <a:r>
                        <a:rPr lang="fr-FR" sz="900" b="0" dirty="0"/>
                        <a:t> </a:t>
                      </a:r>
                      <a:r>
                        <a:rPr lang="fr-FR" sz="900" b="0" dirty="0" err="1"/>
                        <a:t>Dependent</a:t>
                      </a:r>
                      <a:endParaRPr lang="fr-FR" sz="9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213916"/>
                  </a:ext>
                </a:extLst>
              </a:tr>
              <a:tr h="21137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b="0" dirty="0" err="1"/>
                        <a:t>Heterogeneous</a:t>
                      </a:r>
                      <a:r>
                        <a:rPr lang="fr-FR" sz="900" b="0" dirty="0"/>
                        <a:t> + Resource </a:t>
                      </a:r>
                      <a:r>
                        <a:rPr lang="fr-FR" sz="900" b="0" dirty="0" err="1"/>
                        <a:t>Dependent</a:t>
                      </a:r>
                      <a:endParaRPr lang="fr-FR" sz="9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719178"/>
                  </a:ext>
                </a:extLst>
              </a:tr>
              <a:tr h="31706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</a:rPr>
                        <a:t>Heterogeneous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</a:rPr>
                        <a:t>+ Family Dependent </a:t>
                      </a:r>
                      <a:endParaRPr lang="fr-FR" sz="9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230668"/>
                  </a:ext>
                </a:extLst>
              </a:tr>
              <a:tr h="21137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dirty="0">
                          <a:solidFill>
                            <a:schemeClr val="tx1"/>
                          </a:solidFill>
                        </a:rPr>
                        <a:t> ST&gt;PT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Identical</a:t>
                      </a:r>
                      <a:endParaRPr lang="fr-FR" sz="1000" b="0" dirty="0">
                        <a:ln w="38100">
                          <a:solidFill>
                            <a:schemeClr val="tx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588134"/>
                  </a:ext>
                </a:extLst>
              </a:tr>
              <a:tr h="31706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</a:rPr>
                        <a:t>Identical </a:t>
                      </a:r>
                    </a:p>
                    <a:p>
                      <a:pPr algn="l"/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</a:rPr>
                        <a:t>+ Family</a:t>
                      </a:r>
                      <a:r>
                        <a:rPr lang="fr-FR" sz="900" b="0" dirty="0"/>
                        <a:t> </a:t>
                      </a:r>
                      <a:r>
                        <a:rPr lang="fr-FR" sz="900" b="0" dirty="0" err="1"/>
                        <a:t>Dependent</a:t>
                      </a:r>
                      <a:endParaRPr lang="fr-FR" sz="9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731267"/>
                  </a:ext>
                </a:extLst>
              </a:tr>
              <a:tr h="21137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b="0" dirty="0" err="1"/>
                        <a:t>Heterogeneous</a:t>
                      </a:r>
                      <a:r>
                        <a:rPr lang="fr-FR" sz="900" b="0" dirty="0"/>
                        <a:t> + Resource </a:t>
                      </a:r>
                      <a:r>
                        <a:rPr lang="fr-FR" sz="900" b="0" dirty="0" err="1"/>
                        <a:t>Dependent</a:t>
                      </a:r>
                      <a:endParaRPr lang="fr-FR" sz="9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526111"/>
                  </a:ext>
                </a:extLst>
              </a:tr>
              <a:tr h="27614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</a:rPr>
                        <a:t>Heterogeneous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</a:rPr>
                        <a:t>+ Family Dependent </a:t>
                      </a:r>
                      <a:endParaRPr lang="fr-FR" sz="9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64923"/>
                  </a:ext>
                </a:extLst>
              </a:tr>
            </a:tbl>
          </a:graphicData>
        </a:graphic>
      </p:graphicFrame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D71355B-C0D3-62B2-A38A-5716253AB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718596"/>
              </p:ext>
            </p:extLst>
          </p:nvPr>
        </p:nvGraphicFramePr>
        <p:xfrm>
          <a:off x="1798318" y="252035"/>
          <a:ext cx="8282941" cy="1466407"/>
        </p:xfrm>
        <a:graphic>
          <a:graphicData uri="http://schemas.openxmlformats.org/drawingml/2006/table">
            <a:tbl>
              <a:tblPr/>
              <a:tblGrid>
                <a:gridCol w="1994000">
                  <a:extLst>
                    <a:ext uri="{9D8B030D-6E8A-4147-A177-3AD203B41FA5}">
                      <a16:colId xmlns:a16="http://schemas.microsoft.com/office/drawing/2014/main" val="3220340611"/>
                    </a:ext>
                  </a:extLst>
                </a:gridCol>
                <a:gridCol w="2890422">
                  <a:extLst>
                    <a:ext uri="{9D8B030D-6E8A-4147-A177-3AD203B41FA5}">
                      <a16:colId xmlns:a16="http://schemas.microsoft.com/office/drawing/2014/main" val="3031988038"/>
                    </a:ext>
                  </a:extLst>
                </a:gridCol>
                <a:gridCol w="3398519">
                  <a:extLst>
                    <a:ext uri="{9D8B030D-6E8A-4147-A177-3AD203B41FA5}">
                      <a16:colId xmlns:a16="http://schemas.microsoft.com/office/drawing/2014/main" val="2746764482"/>
                    </a:ext>
                  </a:extLst>
                </a:gridCol>
              </a:tblGrid>
              <a:tr h="478605">
                <a:tc>
                  <a:txBody>
                    <a:bodyPr/>
                    <a:lstStyle/>
                    <a:p>
                      <a:pPr algn="l" fontAlgn="b"/>
                      <a:endParaRPr lang="fr-FR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dirty="0">
                          <a:solidFill>
                            <a:schemeClr val="tx1"/>
                          </a:solidFill>
                          <a:effectLst/>
                        </a:rPr>
                        <a:t>Familles Homogènes</a:t>
                      </a:r>
                      <a:r>
                        <a:rPr lang="fr-FR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fr-FR" sz="1100" b="0" i="1" dirty="0">
                          <a:solidFill>
                            <a:schemeClr val="tx1"/>
                          </a:solidFill>
                          <a:effectLst/>
                        </a:rPr>
                        <a:t>(Même temps pour tous les famille sur une ressource donnée)</a:t>
                      </a:r>
                      <a:endParaRPr lang="fr-FR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dirty="0">
                          <a:solidFill>
                            <a:schemeClr val="tx1"/>
                          </a:solidFill>
                          <a:effectLst/>
                        </a:rPr>
                        <a:t>Familles Hétérogènes </a:t>
                      </a:r>
                    </a:p>
                    <a:p>
                      <a:pPr algn="l" fontAlgn="b"/>
                      <a:r>
                        <a:rPr lang="fr-FR" sz="1200" b="0" i="1" dirty="0">
                          <a:solidFill>
                            <a:schemeClr val="tx1"/>
                          </a:solidFill>
                          <a:effectLst/>
                        </a:rPr>
                        <a:t>(Temps différent par famille)</a:t>
                      </a:r>
                      <a:endParaRPr lang="fr-FR" sz="12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522" marR="72522" marT="36261" marB="3626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427960"/>
                  </a:ext>
                </a:extLst>
              </a:tr>
              <a:tr h="41236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100" b="1" dirty="0">
                          <a:solidFill>
                            <a:schemeClr val="tx1"/>
                          </a:solidFill>
                          <a:effectLst/>
                        </a:rPr>
                        <a:t>Machines Identiques</a:t>
                      </a:r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fr-FR" sz="1100" i="1" dirty="0">
                          <a:solidFill>
                            <a:schemeClr val="tx1"/>
                          </a:solidFill>
                          <a:effectLst/>
                        </a:rPr>
                        <a:t>(Même ressource = même profil)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100" b="1" dirty="0">
                          <a:solidFill>
                            <a:schemeClr val="tx1"/>
                          </a:solidFill>
                          <a:effectLst/>
                        </a:rPr>
                        <a:t>Cas 1 : </a:t>
                      </a:r>
                      <a:r>
                        <a:rPr lang="fr-FR" sz="1100" b="1" dirty="0" err="1">
                          <a:solidFill>
                            <a:schemeClr val="tx1"/>
                          </a:solidFill>
                          <a:effectLst/>
                        </a:rPr>
                        <a:t>Identical</a:t>
                      </a:r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 algn="l" fontAlgn="base"/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M1=[1,1,1] &amp; M2=[1,1,1]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Cas 3 : </a:t>
                      </a:r>
                      <a:r>
                        <a:rPr lang="fr-FR" sz="1100" b="1" dirty="0" err="1">
                          <a:solidFill>
                            <a:schemeClr val="tx1"/>
                          </a:solidFill>
                          <a:effectLst/>
                        </a:rPr>
                        <a:t>Identical</a:t>
                      </a:r>
                      <a:r>
                        <a:rPr lang="fr-FR" sz="1100" b="1" dirty="0"/>
                        <a:t> + 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Family</a:t>
                      </a:r>
                      <a:r>
                        <a:rPr lang="fr-FR" sz="1100" b="1" dirty="0"/>
                        <a:t> </a:t>
                      </a:r>
                      <a:r>
                        <a:rPr lang="fr-FR" sz="1100" b="1" dirty="0" err="1"/>
                        <a:t>Dependent</a:t>
                      </a:r>
                      <a:endParaRPr lang="fr-FR" sz="1100" b="1" dirty="0"/>
                    </a:p>
                    <a:p>
                      <a:pPr algn="l" fontAlgn="base"/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M1=[1,2,3] &amp; M2=[1,2,3]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278748"/>
                  </a:ext>
                </a:extLst>
              </a:tr>
              <a:tr h="413341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100" b="1" dirty="0">
                          <a:solidFill>
                            <a:schemeClr val="tx1"/>
                          </a:solidFill>
                          <a:effectLst/>
                        </a:rPr>
                        <a:t>Machines Hétérogènes</a:t>
                      </a:r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fr-FR" sz="1100" i="1" dirty="0">
                          <a:solidFill>
                            <a:schemeClr val="tx1"/>
                          </a:solidFill>
                          <a:effectLst/>
                        </a:rPr>
                        <a:t>(Ressource A ≠ Ressource B)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b="1" dirty="0">
                          <a:solidFill>
                            <a:schemeClr val="tx1"/>
                          </a:solidFill>
                          <a:effectLst/>
                        </a:rPr>
                        <a:t>Cas 2 : 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Heterogeneous </a:t>
                      </a:r>
                    </a:p>
                    <a:p>
                      <a:pPr algn="l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+ </a:t>
                      </a:r>
                      <a:r>
                        <a:rPr lang="fr-FR" sz="1100" b="1" dirty="0">
                          <a:solidFill>
                            <a:schemeClr val="tx1"/>
                          </a:solidFill>
                          <a:effectLst/>
                        </a:rPr>
                        <a:t>Resource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 Dependent </a:t>
                      </a:r>
                      <a:endParaRPr lang="fr-FR" sz="1100" b="1" dirty="0"/>
                    </a:p>
                    <a:p>
                      <a:pPr algn="l" fontAlgn="base"/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M1=[1,1,1] &amp; M2=[4,4,4]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Cas 4 : Heterogeneous </a:t>
                      </a:r>
                    </a:p>
                    <a:p>
                      <a:pPr algn="l" fontAlgn="base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+ Family Dependent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 algn="l" fontAlgn="base"/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M1=[1,2,3] &amp; M2=[4,5,6]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724998"/>
                  </a:ext>
                </a:extLst>
              </a:tr>
            </a:tbl>
          </a:graphicData>
        </a:graphic>
      </p:graphicFrame>
      <p:grpSp>
        <p:nvGrpSpPr>
          <p:cNvPr id="3" name="Groupe 2">
            <a:extLst>
              <a:ext uri="{FF2B5EF4-FFF2-40B4-BE49-F238E27FC236}">
                <a16:creationId xmlns:a16="http://schemas.microsoft.com/office/drawing/2014/main" id="{CEE92B3E-59E8-7F80-DA3F-41160BE1D187}"/>
              </a:ext>
            </a:extLst>
          </p:cNvPr>
          <p:cNvGrpSpPr/>
          <p:nvPr/>
        </p:nvGrpSpPr>
        <p:grpSpPr>
          <a:xfrm>
            <a:off x="5982864" y="843096"/>
            <a:ext cx="417936" cy="187200"/>
            <a:chOff x="6651970" y="4214998"/>
            <a:chExt cx="417936" cy="1872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4AE6CD6E-FA15-71B1-9DFD-B35DF63FF35D}"/>
                </a:ext>
              </a:extLst>
            </p:cNvPr>
            <p:cNvSpPr/>
            <p:nvPr/>
          </p:nvSpPr>
          <p:spPr>
            <a:xfrm>
              <a:off x="6651970" y="4214998"/>
              <a:ext cx="185963" cy="1872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81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51F8A8B8-2979-E09C-BEEA-F6CA50CB0D0D}"/>
                </a:ext>
              </a:extLst>
            </p:cNvPr>
            <p:cNvSpPr/>
            <p:nvPr/>
          </p:nvSpPr>
          <p:spPr>
            <a:xfrm>
              <a:off x="6883943" y="4214998"/>
              <a:ext cx="185963" cy="1872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10" b="1" dirty="0">
                  <a:solidFill>
                    <a:schemeClr val="tx1"/>
                  </a:solidFill>
                </a:rPr>
                <a:t>I</a:t>
              </a:r>
            </a:p>
          </p:txBody>
        </p:sp>
      </p:grpSp>
      <p:sp>
        <p:nvSpPr>
          <p:cNvPr id="7" name="Ellipse 6">
            <a:extLst>
              <a:ext uri="{FF2B5EF4-FFF2-40B4-BE49-F238E27FC236}">
                <a16:creationId xmlns:a16="http://schemas.microsoft.com/office/drawing/2014/main" id="{88956711-FD25-0D9E-D5E9-3FE19D87FBA3}"/>
              </a:ext>
            </a:extLst>
          </p:cNvPr>
          <p:cNvSpPr/>
          <p:nvPr/>
        </p:nvSpPr>
        <p:spPr>
          <a:xfrm>
            <a:off x="5982864" y="1331014"/>
            <a:ext cx="185963" cy="187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700" b="1" dirty="0">
                <a:solidFill>
                  <a:schemeClr val="tx1"/>
                </a:solidFill>
              </a:rPr>
              <a:t>HR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2DC8FA24-FCE0-076F-721D-8AB8C0631AA5}"/>
              </a:ext>
            </a:extLst>
          </p:cNvPr>
          <p:cNvGrpSpPr/>
          <p:nvPr/>
        </p:nvGrpSpPr>
        <p:grpSpPr>
          <a:xfrm>
            <a:off x="9599511" y="843096"/>
            <a:ext cx="417936" cy="187200"/>
            <a:chOff x="6651970" y="4214998"/>
            <a:chExt cx="417936" cy="1872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778046AE-1A24-A7E8-C96C-A6B032433BFF}"/>
                </a:ext>
              </a:extLst>
            </p:cNvPr>
            <p:cNvSpPr/>
            <p:nvPr/>
          </p:nvSpPr>
          <p:spPr>
            <a:xfrm>
              <a:off x="6651970" y="4214998"/>
              <a:ext cx="185963" cy="1872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810" b="1" dirty="0">
                  <a:solidFill>
                    <a:schemeClr val="tx1"/>
                  </a:solidFill>
                </a:rPr>
                <a:t>IF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30520F8C-6133-8BF1-587C-CC7535C9B93C}"/>
                </a:ext>
              </a:extLst>
            </p:cNvPr>
            <p:cNvSpPr/>
            <p:nvPr/>
          </p:nvSpPr>
          <p:spPr>
            <a:xfrm>
              <a:off x="6883943" y="4214998"/>
              <a:ext cx="185963" cy="1872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810" b="1" dirty="0">
                  <a:solidFill>
                    <a:schemeClr val="tx1"/>
                  </a:solidFill>
                </a:rPr>
                <a:t>IF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46027B9E-2B67-A35E-545B-D3708ADEDFCC}"/>
              </a:ext>
            </a:extLst>
          </p:cNvPr>
          <p:cNvGrpSpPr/>
          <p:nvPr/>
        </p:nvGrpSpPr>
        <p:grpSpPr>
          <a:xfrm>
            <a:off x="9599511" y="1288998"/>
            <a:ext cx="417936" cy="187200"/>
            <a:chOff x="6651970" y="4214998"/>
            <a:chExt cx="417936" cy="187200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3D40FAF6-5ADC-73AE-A5BA-478C5ABEF41A}"/>
                </a:ext>
              </a:extLst>
            </p:cNvPr>
            <p:cNvSpPr/>
            <p:nvPr/>
          </p:nvSpPr>
          <p:spPr>
            <a:xfrm>
              <a:off x="6651970" y="4214998"/>
              <a:ext cx="185963" cy="1872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810" b="1" kern="900" dirty="0">
                  <a:solidFill>
                    <a:schemeClr val="tx1"/>
                  </a:solidFill>
                </a:rPr>
                <a:t>HF</a:t>
              </a: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BC171325-130E-9361-D0E9-B4474DE8C1F9}"/>
                </a:ext>
              </a:extLst>
            </p:cNvPr>
            <p:cNvSpPr/>
            <p:nvPr/>
          </p:nvSpPr>
          <p:spPr>
            <a:xfrm>
              <a:off x="6883943" y="4214998"/>
              <a:ext cx="185963" cy="1872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810" b="1" dirty="0">
                  <a:solidFill>
                    <a:schemeClr val="tx1"/>
                  </a:solidFill>
                </a:rPr>
                <a:t>HF</a:t>
              </a:r>
            </a:p>
          </p:txBody>
        </p:sp>
      </p:grpSp>
      <p:sp>
        <p:nvSpPr>
          <p:cNvPr id="16" name="Flèche : bas 15">
            <a:extLst>
              <a:ext uri="{FF2B5EF4-FFF2-40B4-BE49-F238E27FC236}">
                <a16:creationId xmlns:a16="http://schemas.microsoft.com/office/drawing/2014/main" id="{3B993937-FE86-EDCB-6E78-1197934561D8}"/>
              </a:ext>
            </a:extLst>
          </p:cNvPr>
          <p:cNvSpPr/>
          <p:nvPr/>
        </p:nvSpPr>
        <p:spPr>
          <a:xfrm>
            <a:off x="5814060" y="1826037"/>
            <a:ext cx="586740" cy="360903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F732309F-98BE-4F56-A30A-84E3409BBAB9}"/>
              </a:ext>
            </a:extLst>
          </p:cNvPr>
          <p:cNvSpPr/>
          <p:nvPr/>
        </p:nvSpPr>
        <p:spPr>
          <a:xfrm>
            <a:off x="8313226" y="2589549"/>
            <a:ext cx="185963" cy="187200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18E31E7-7B83-D45A-325F-40712254A0F3}"/>
              </a:ext>
            </a:extLst>
          </p:cNvPr>
          <p:cNvSpPr/>
          <p:nvPr/>
        </p:nvSpPr>
        <p:spPr>
          <a:xfrm>
            <a:off x="8313226" y="2836133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6C410BD-04A7-E86A-6494-B87C83A9B5CC}"/>
              </a:ext>
            </a:extLst>
          </p:cNvPr>
          <p:cNvSpPr/>
          <p:nvPr/>
        </p:nvSpPr>
        <p:spPr>
          <a:xfrm>
            <a:off x="8313228" y="3167379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50" b="1" kern="900" dirty="0">
                <a:solidFill>
                  <a:schemeClr val="tx1"/>
                </a:solidFill>
              </a:rPr>
              <a:t>IF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429DB6F6-A958-C78F-7DC7-BD95D24577FD}"/>
              </a:ext>
            </a:extLst>
          </p:cNvPr>
          <p:cNvSpPr/>
          <p:nvPr/>
        </p:nvSpPr>
        <p:spPr>
          <a:xfrm>
            <a:off x="8313227" y="3510055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700" b="1" kern="900" dirty="0">
                <a:solidFill>
                  <a:schemeClr val="tx1"/>
                </a:solidFill>
              </a:rPr>
              <a:t>HR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C97D477D-24BA-408D-970D-085C100B212E}"/>
              </a:ext>
            </a:extLst>
          </p:cNvPr>
          <p:cNvSpPr/>
          <p:nvPr/>
        </p:nvSpPr>
        <p:spPr>
          <a:xfrm>
            <a:off x="8313227" y="3874059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HF</a:t>
            </a:r>
          </a:p>
        </p:txBody>
      </p:sp>
      <p:graphicFrame>
        <p:nvGraphicFramePr>
          <p:cNvPr id="130" name="Tableau 129">
            <a:extLst>
              <a:ext uri="{FF2B5EF4-FFF2-40B4-BE49-F238E27FC236}">
                <a16:creationId xmlns:a16="http://schemas.microsoft.com/office/drawing/2014/main" id="{B10060BD-137B-197C-E2EE-9FC64B936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862931"/>
              </p:ext>
            </p:extLst>
          </p:nvPr>
        </p:nvGraphicFramePr>
        <p:xfrm>
          <a:off x="4401584" y="2552736"/>
          <a:ext cx="1579153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153">
                  <a:extLst>
                    <a:ext uri="{9D8B030D-6E8A-4147-A177-3AD203B41FA5}">
                      <a16:colId xmlns:a16="http://schemas.microsoft.com/office/drawing/2014/main" val="2565682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Identical (I) </a:t>
                      </a:r>
                      <a:endParaRPr lang="fr-FR" sz="1000" b="0" dirty="0">
                        <a:ln w="38100">
                          <a:solidFill>
                            <a:schemeClr val="tx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432497"/>
                  </a:ext>
                </a:extLst>
              </a:tr>
              <a:tr h="317061"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</a:rPr>
                        <a:t>Identical </a:t>
                      </a:r>
                    </a:p>
                    <a:p>
                      <a:pPr algn="l"/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</a:rPr>
                        <a:t>+ Family</a:t>
                      </a:r>
                      <a:r>
                        <a:rPr lang="fr-FR" sz="900" b="0" dirty="0"/>
                        <a:t> </a:t>
                      </a:r>
                      <a:r>
                        <a:rPr lang="fr-FR" sz="900" b="0" dirty="0" err="1"/>
                        <a:t>Dependent</a:t>
                      </a:r>
                      <a:endParaRPr lang="fr-FR" sz="9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833172"/>
                  </a:ext>
                </a:extLst>
              </a:tr>
              <a:tr h="211374">
                <a:tc>
                  <a:txBody>
                    <a:bodyPr/>
                    <a:lstStyle/>
                    <a:p>
                      <a:r>
                        <a:rPr lang="fr-FR" sz="900" b="0" dirty="0" err="1"/>
                        <a:t>Heterogeneous</a:t>
                      </a:r>
                      <a:r>
                        <a:rPr lang="fr-FR" sz="900" b="0" dirty="0"/>
                        <a:t> </a:t>
                      </a:r>
                    </a:p>
                    <a:p>
                      <a:r>
                        <a:rPr lang="fr-FR" sz="900" b="0" dirty="0"/>
                        <a:t>+ Resource </a:t>
                      </a:r>
                      <a:r>
                        <a:rPr lang="fr-FR" sz="900" b="0" dirty="0" err="1"/>
                        <a:t>Dependent</a:t>
                      </a:r>
                      <a:endParaRPr lang="fr-FR" sz="9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027911"/>
                  </a:ext>
                </a:extLst>
              </a:tr>
              <a:tr h="3170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</a:rPr>
                        <a:t>Heterogeneous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</a:rPr>
                        <a:t>+ Family Dependent </a:t>
                      </a:r>
                      <a:endParaRPr lang="fr-FR" sz="9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565243"/>
                  </a:ext>
                </a:extLst>
              </a:tr>
            </a:tbl>
          </a:graphicData>
        </a:graphic>
      </p:graphicFrame>
      <p:sp>
        <p:nvSpPr>
          <p:cNvPr id="131" name="Rectangle 130">
            <a:extLst>
              <a:ext uri="{FF2B5EF4-FFF2-40B4-BE49-F238E27FC236}">
                <a16:creationId xmlns:a16="http://schemas.microsoft.com/office/drawing/2014/main" id="{CA41B782-1E9F-8C4D-1CEB-23C33B026141}"/>
              </a:ext>
            </a:extLst>
          </p:cNvPr>
          <p:cNvSpPr/>
          <p:nvPr/>
        </p:nvSpPr>
        <p:spPr>
          <a:xfrm>
            <a:off x="5727901" y="2577180"/>
            <a:ext cx="185963" cy="1872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50" b="1" kern="9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43D585A-ABA7-0C34-AB5E-98391B7D2A8C}"/>
              </a:ext>
            </a:extLst>
          </p:cNvPr>
          <p:cNvSpPr/>
          <p:nvPr/>
        </p:nvSpPr>
        <p:spPr>
          <a:xfrm>
            <a:off x="5727901" y="2888194"/>
            <a:ext cx="185963" cy="1872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IF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C65B12F-58D9-406A-125F-B316B349B77A}"/>
              </a:ext>
            </a:extLst>
          </p:cNvPr>
          <p:cNvSpPr/>
          <p:nvPr/>
        </p:nvSpPr>
        <p:spPr>
          <a:xfrm>
            <a:off x="5727901" y="3232988"/>
            <a:ext cx="185963" cy="18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50" b="1" kern="900" dirty="0">
                <a:solidFill>
                  <a:schemeClr val="tx1"/>
                </a:solidFill>
              </a:rPr>
              <a:t>HR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90DD364-0856-64A2-BF6A-A4B09A49BDDD}"/>
              </a:ext>
            </a:extLst>
          </p:cNvPr>
          <p:cNvSpPr/>
          <p:nvPr/>
        </p:nvSpPr>
        <p:spPr>
          <a:xfrm>
            <a:off x="5727901" y="3618412"/>
            <a:ext cx="185963" cy="18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50" b="1" kern="900" dirty="0">
                <a:solidFill>
                  <a:schemeClr val="tx1"/>
                </a:solidFill>
              </a:rPr>
              <a:t>HF</a:t>
            </a:r>
          </a:p>
        </p:txBody>
      </p:sp>
      <p:sp>
        <p:nvSpPr>
          <p:cNvPr id="138" name="Rectangle : coins arrondis 137">
            <a:extLst>
              <a:ext uri="{FF2B5EF4-FFF2-40B4-BE49-F238E27FC236}">
                <a16:creationId xmlns:a16="http://schemas.microsoft.com/office/drawing/2014/main" id="{E06C777B-9BA5-1467-D8F5-A8107A1E1E83}"/>
              </a:ext>
            </a:extLst>
          </p:cNvPr>
          <p:cNvSpPr/>
          <p:nvPr/>
        </p:nvSpPr>
        <p:spPr>
          <a:xfrm>
            <a:off x="6214837" y="1331705"/>
            <a:ext cx="185963" cy="1872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dirty="0">
                <a:solidFill>
                  <a:schemeClr val="tx1"/>
                </a:solidFill>
              </a:rPr>
              <a:t>HR</a:t>
            </a:r>
          </a:p>
        </p:txBody>
      </p:sp>
      <p:sp>
        <p:nvSpPr>
          <p:cNvPr id="139" name="Ellipse 138">
            <a:extLst>
              <a:ext uri="{FF2B5EF4-FFF2-40B4-BE49-F238E27FC236}">
                <a16:creationId xmlns:a16="http://schemas.microsoft.com/office/drawing/2014/main" id="{836C4D28-F856-FDBD-CBEC-87CE9D5CB943}"/>
              </a:ext>
            </a:extLst>
          </p:cNvPr>
          <p:cNvSpPr/>
          <p:nvPr/>
        </p:nvSpPr>
        <p:spPr>
          <a:xfrm>
            <a:off x="8313226" y="4178262"/>
            <a:ext cx="185963" cy="187200"/>
          </a:xfrm>
          <a:prstGeom prst="ellipse">
            <a:avLst/>
          </a:prstGeom>
          <a:solidFill>
            <a:srgbClr val="FFCC6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40" name="Ellipse 139">
            <a:extLst>
              <a:ext uri="{FF2B5EF4-FFF2-40B4-BE49-F238E27FC236}">
                <a16:creationId xmlns:a16="http://schemas.microsoft.com/office/drawing/2014/main" id="{E2E4FDC1-363E-A7CB-95BB-A2D0565217B3}"/>
              </a:ext>
            </a:extLst>
          </p:cNvPr>
          <p:cNvSpPr/>
          <p:nvPr/>
        </p:nvSpPr>
        <p:spPr>
          <a:xfrm>
            <a:off x="8313226" y="4488180"/>
            <a:ext cx="185963" cy="187200"/>
          </a:xfrm>
          <a:prstGeom prst="ellipse">
            <a:avLst/>
          </a:prstGeom>
          <a:solidFill>
            <a:srgbClr val="FFCC6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50" b="1" kern="900" dirty="0">
                <a:solidFill>
                  <a:schemeClr val="tx1"/>
                </a:solidFill>
              </a:rPr>
              <a:t>IF</a:t>
            </a:r>
          </a:p>
        </p:txBody>
      </p:sp>
      <p:sp>
        <p:nvSpPr>
          <p:cNvPr id="141" name="Ellipse 140">
            <a:extLst>
              <a:ext uri="{FF2B5EF4-FFF2-40B4-BE49-F238E27FC236}">
                <a16:creationId xmlns:a16="http://schemas.microsoft.com/office/drawing/2014/main" id="{6436D2DC-8F1B-5C92-CC04-34889B0D24B7}"/>
              </a:ext>
            </a:extLst>
          </p:cNvPr>
          <p:cNvSpPr/>
          <p:nvPr/>
        </p:nvSpPr>
        <p:spPr>
          <a:xfrm>
            <a:off x="8313227" y="4852184"/>
            <a:ext cx="185963" cy="187200"/>
          </a:xfrm>
          <a:prstGeom prst="ellipse">
            <a:avLst/>
          </a:prstGeom>
          <a:solidFill>
            <a:srgbClr val="FFCC6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750" b="1" kern="900" dirty="0">
                <a:solidFill>
                  <a:schemeClr val="tx1"/>
                </a:solidFill>
              </a:rPr>
              <a:t>HR</a:t>
            </a:r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4B24A30F-3C89-B5DB-8CE4-3E68B2F9007C}"/>
              </a:ext>
            </a:extLst>
          </p:cNvPr>
          <p:cNvSpPr/>
          <p:nvPr/>
        </p:nvSpPr>
        <p:spPr>
          <a:xfrm>
            <a:off x="8313227" y="5216188"/>
            <a:ext cx="185963" cy="187200"/>
          </a:xfrm>
          <a:prstGeom prst="ellipse">
            <a:avLst/>
          </a:prstGeom>
          <a:solidFill>
            <a:srgbClr val="FFCC6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HF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66B6D983-BF03-A2E4-D540-D3327288D7DB}"/>
              </a:ext>
            </a:extLst>
          </p:cNvPr>
          <p:cNvSpPr txBox="1"/>
          <p:nvPr/>
        </p:nvSpPr>
        <p:spPr>
          <a:xfrm>
            <a:off x="6333797" y="2266646"/>
            <a:ext cx="2221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 times</a:t>
            </a:r>
            <a:endParaRPr lang="fr-FR" sz="1400" b="1" dirty="0"/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C28FFCAD-4804-B2F6-E2C5-A242A6E0BB6C}"/>
              </a:ext>
            </a:extLst>
          </p:cNvPr>
          <p:cNvSpPr txBox="1"/>
          <p:nvPr/>
        </p:nvSpPr>
        <p:spPr>
          <a:xfrm>
            <a:off x="4401584" y="2232737"/>
            <a:ext cx="17386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Processing times</a:t>
            </a:r>
            <a:endParaRPr lang="fr-FR" sz="1400" b="1" dirty="0"/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776E5F1F-6D56-8C5B-2272-01ABA6C8CB39}"/>
              </a:ext>
            </a:extLst>
          </p:cNvPr>
          <p:cNvSpPr txBox="1"/>
          <p:nvPr/>
        </p:nvSpPr>
        <p:spPr>
          <a:xfrm>
            <a:off x="7674013" y="5796389"/>
            <a:ext cx="431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K13</a:t>
            </a:r>
          </a:p>
        </p:txBody>
      </p:sp>
      <p:sp>
        <p:nvSpPr>
          <p:cNvPr id="147" name="Rectangle : coins arrondis 146">
            <a:extLst>
              <a:ext uri="{FF2B5EF4-FFF2-40B4-BE49-F238E27FC236}">
                <a16:creationId xmlns:a16="http://schemas.microsoft.com/office/drawing/2014/main" id="{979FDF75-A6A2-B460-175D-288DC4B1E93A}"/>
              </a:ext>
            </a:extLst>
          </p:cNvPr>
          <p:cNvSpPr/>
          <p:nvPr/>
        </p:nvSpPr>
        <p:spPr>
          <a:xfrm>
            <a:off x="8377498" y="5646235"/>
            <a:ext cx="82296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fr-FR" sz="1400" dirty="0" err="1">
                <a:solidFill>
                  <a:schemeClr val="tx1"/>
                </a:solidFill>
              </a:rPr>
              <a:t>Cell</a:t>
            </a:r>
            <a:r>
              <a:rPr lang="fr-FR" sz="1400" dirty="0">
                <a:solidFill>
                  <a:schemeClr val="tx1"/>
                </a:solidFill>
              </a:rPr>
              <a:t> #1</a:t>
            </a:r>
          </a:p>
        </p:txBody>
      </p:sp>
      <p:sp>
        <p:nvSpPr>
          <p:cNvPr id="148" name="Rectangle : coins arrondis 147">
            <a:extLst>
              <a:ext uri="{FF2B5EF4-FFF2-40B4-BE49-F238E27FC236}">
                <a16:creationId xmlns:a16="http://schemas.microsoft.com/office/drawing/2014/main" id="{1ED2167E-D7F5-DF61-DB94-875C2107A5FA}"/>
              </a:ext>
            </a:extLst>
          </p:cNvPr>
          <p:cNvSpPr/>
          <p:nvPr/>
        </p:nvSpPr>
        <p:spPr>
          <a:xfrm>
            <a:off x="9419154" y="5646235"/>
            <a:ext cx="82296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fr-FR" sz="1400" dirty="0" err="1">
                <a:solidFill>
                  <a:schemeClr val="tx1"/>
                </a:solidFill>
              </a:rPr>
              <a:t>Cell</a:t>
            </a:r>
            <a:r>
              <a:rPr lang="fr-FR" sz="1400" dirty="0">
                <a:solidFill>
                  <a:schemeClr val="tx1"/>
                </a:solidFill>
              </a:rPr>
              <a:t> #2</a:t>
            </a:r>
          </a:p>
        </p:txBody>
      </p:sp>
      <p:sp>
        <p:nvSpPr>
          <p:cNvPr id="149" name="Rectangle : coins arrondis 148">
            <a:extLst>
              <a:ext uri="{FF2B5EF4-FFF2-40B4-BE49-F238E27FC236}">
                <a16:creationId xmlns:a16="http://schemas.microsoft.com/office/drawing/2014/main" id="{0D346FD8-29B1-653E-BE18-08A7E96FDC81}"/>
              </a:ext>
            </a:extLst>
          </p:cNvPr>
          <p:cNvSpPr/>
          <p:nvPr/>
        </p:nvSpPr>
        <p:spPr>
          <a:xfrm>
            <a:off x="10460810" y="5632443"/>
            <a:ext cx="82296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fr-FR" sz="1400" dirty="0" err="1">
                <a:solidFill>
                  <a:schemeClr val="tx1"/>
                </a:solidFill>
              </a:rPr>
              <a:t>Cell</a:t>
            </a:r>
            <a:r>
              <a:rPr lang="fr-FR" sz="1400" dirty="0">
                <a:solidFill>
                  <a:schemeClr val="tx1"/>
                </a:solidFill>
              </a:rPr>
              <a:t> #3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067C38E8-A154-E97D-EA91-AAF94E0F8D0A}"/>
              </a:ext>
            </a:extLst>
          </p:cNvPr>
          <p:cNvSpPr/>
          <p:nvPr/>
        </p:nvSpPr>
        <p:spPr>
          <a:xfrm>
            <a:off x="8555027" y="5890220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51" name="Rectangle : coins arrondis 150">
            <a:extLst>
              <a:ext uri="{FF2B5EF4-FFF2-40B4-BE49-F238E27FC236}">
                <a16:creationId xmlns:a16="http://schemas.microsoft.com/office/drawing/2014/main" id="{B517A111-5640-3699-03F0-8E0CDFF4848F}"/>
              </a:ext>
            </a:extLst>
          </p:cNvPr>
          <p:cNvSpPr/>
          <p:nvPr/>
        </p:nvSpPr>
        <p:spPr>
          <a:xfrm>
            <a:off x="8836967" y="5890220"/>
            <a:ext cx="185963" cy="187200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52" name="Ellipse 151">
            <a:extLst>
              <a:ext uri="{FF2B5EF4-FFF2-40B4-BE49-F238E27FC236}">
                <a16:creationId xmlns:a16="http://schemas.microsoft.com/office/drawing/2014/main" id="{3A322D65-F782-54E5-D444-DBBC10491717}"/>
              </a:ext>
            </a:extLst>
          </p:cNvPr>
          <p:cNvSpPr/>
          <p:nvPr/>
        </p:nvSpPr>
        <p:spPr>
          <a:xfrm>
            <a:off x="9596683" y="5890220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53" name="Rectangle : coins arrondis 152">
            <a:extLst>
              <a:ext uri="{FF2B5EF4-FFF2-40B4-BE49-F238E27FC236}">
                <a16:creationId xmlns:a16="http://schemas.microsoft.com/office/drawing/2014/main" id="{A8A614AB-DEDE-2E9F-190A-BDD6A0AD2C0A}"/>
              </a:ext>
            </a:extLst>
          </p:cNvPr>
          <p:cNvSpPr/>
          <p:nvPr/>
        </p:nvSpPr>
        <p:spPr>
          <a:xfrm>
            <a:off x="9878623" y="5890220"/>
            <a:ext cx="185963" cy="187200"/>
          </a:xfrm>
          <a:prstGeom prst="roundRect">
            <a:avLst>
              <a:gd name="adj" fmla="val 0"/>
            </a:avLst>
          </a:prstGeom>
          <a:solidFill>
            <a:schemeClr val="accent5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54" name="Ellipse 153">
            <a:extLst>
              <a:ext uri="{FF2B5EF4-FFF2-40B4-BE49-F238E27FC236}">
                <a16:creationId xmlns:a16="http://schemas.microsoft.com/office/drawing/2014/main" id="{42DE1D56-97AC-9DEB-1665-7D5EE50BE5CA}"/>
              </a:ext>
            </a:extLst>
          </p:cNvPr>
          <p:cNvSpPr/>
          <p:nvPr/>
        </p:nvSpPr>
        <p:spPr>
          <a:xfrm>
            <a:off x="10640623" y="5890220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55" name="Rectangle : coins arrondis 154">
            <a:extLst>
              <a:ext uri="{FF2B5EF4-FFF2-40B4-BE49-F238E27FC236}">
                <a16:creationId xmlns:a16="http://schemas.microsoft.com/office/drawing/2014/main" id="{8AA5B34C-3D4E-EC10-BB4D-7A664AACEB87}"/>
              </a:ext>
            </a:extLst>
          </p:cNvPr>
          <p:cNvSpPr/>
          <p:nvPr/>
        </p:nvSpPr>
        <p:spPr>
          <a:xfrm>
            <a:off x="10922563" y="5890220"/>
            <a:ext cx="185963" cy="187200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86461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ZoneTexte 156">
            <a:extLst>
              <a:ext uri="{FF2B5EF4-FFF2-40B4-BE49-F238E27FC236}">
                <a16:creationId xmlns:a16="http://schemas.microsoft.com/office/drawing/2014/main" id="{DC6453E7-27C8-9096-4191-7DA60C850940}"/>
              </a:ext>
            </a:extLst>
          </p:cNvPr>
          <p:cNvSpPr txBox="1"/>
          <p:nvPr/>
        </p:nvSpPr>
        <p:spPr>
          <a:xfrm>
            <a:off x="413749" y="289679"/>
            <a:ext cx="1032818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K13: </a:t>
            </a:r>
            <a:r>
              <a:rPr lang="fr-FR" sz="1600" dirty="0"/>
              <a:t>"</a:t>
            </a:r>
            <a:r>
              <a:rPr lang="fr-FR" sz="1600" dirty="0" err="1"/>
              <a:t>Factory</a:t>
            </a:r>
            <a:r>
              <a:rPr lang="fr-FR" sz="1600" dirty="0"/>
              <a:t> configuration F_5F3C7M_232_4 </a:t>
            </a:r>
            <a:r>
              <a:rPr lang="fr-FR" sz="1600" dirty="0" err="1"/>
              <a:t>with</a:t>
            </a:r>
            <a:r>
              <a:rPr lang="fr-FR" sz="1600" dirty="0"/>
              <a:t> 3 </a:t>
            </a:r>
            <a:r>
              <a:rPr lang="fr-FR" sz="1600" dirty="0" err="1"/>
              <a:t>cells</a:t>
            </a:r>
            <a:r>
              <a:rPr lang="fr-FR" sz="1600" dirty="0"/>
              <a:t>.",  "</a:t>
            </a:r>
            <a:r>
              <a:rPr lang="fr-FR" sz="1600" dirty="0" err="1"/>
              <a:t>name</a:t>
            </a:r>
            <a:r>
              <a:rPr lang="fr-FR" sz="1600" dirty="0"/>
              <a:t>": "F_5F3C7M_232_4", </a:t>
            </a:r>
          </a:p>
          <a:p>
            <a:endParaRPr lang="fr-FR" sz="1600" dirty="0"/>
          </a:p>
          <a:p>
            <a:r>
              <a:rPr lang="fr-FR" sz="1600" dirty="0" err="1"/>
              <a:t>resID</a:t>
            </a:r>
            <a:r>
              <a:rPr lang="fr-FR" sz="1600" dirty="0"/>
              <a:t>": 1,"cellID": 1,"processVector": [4,3,3,2, 1 ],"</a:t>
            </a:r>
            <a:r>
              <a:rPr lang="fr-FR" sz="1600" dirty="0" err="1"/>
              <a:t>setupVector</a:t>
            </a:r>
            <a:r>
              <a:rPr lang="fr-FR" sz="1600" dirty="0"/>
              <a:t>": [2,1,2,2,1] </a:t>
            </a:r>
          </a:p>
          <a:p>
            <a:r>
              <a:rPr lang="fr-FR" sz="1600" dirty="0" err="1"/>
              <a:t>resID</a:t>
            </a:r>
            <a:r>
              <a:rPr lang="fr-FR" sz="1600" dirty="0"/>
              <a:t>": 2,"cellID": 1,"processVector": [4,3,3,2,1],"</a:t>
            </a:r>
            <a:r>
              <a:rPr lang="fr-FR" sz="1600" dirty="0" err="1"/>
              <a:t>setupVector</a:t>
            </a:r>
            <a:r>
              <a:rPr lang="fr-FR" sz="1600" dirty="0"/>
              <a:t>": [2,1,2,2,1]  </a:t>
            </a:r>
          </a:p>
          <a:p>
            <a:endParaRPr lang="fr-FR" sz="1600" dirty="0"/>
          </a:p>
          <a:p>
            <a:r>
              <a:rPr lang="fr-FR" sz="1600" dirty="0" err="1"/>
              <a:t>resID</a:t>
            </a:r>
            <a:r>
              <a:rPr lang="fr-FR" sz="1600" dirty="0"/>
              <a:t>": 3,"cellID": 2,"processVector": [2,2,2,2,2],"</a:t>
            </a:r>
            <a:r>
              <a:rPr lang="fr-FR" sz="1600" dirty="0" err="1"/>
              <a:t>setupVector</a:t>
            </a:r>
            <a:r>
              <a:rPr lang="fr-FR" sz="1600" dirty="0"/>
              <a:t>": [0,2,2,2,1]  </a:t>
            </a:r>
          </a:p>
          <a:p>
            <a:r>
              <a:rPr lang="fr-FR" sz="1600" dirty="0" err="1"/>
              <a:t>resID</a:t>
            </a:r>
            <a:r>
              <a:rPr lang="fr-FR" sz="1600" dirty="0"/>
              <a:t>": 4,"cellID": 2,"processVector": [3,3,3,3,3],"</a:t>
            </a:r>
            <a:r>
              <a:rPr lang="fr-FR" sz="1600" dirty="0" err="1"/>
              <a:t>setupVector</a:t>
            </a:r>
            <a:r>
              <a:rPr lang="fr-FR" sz="1600" dirty="0"/>
              <a:t>": [2,2,2,2,2]  </a:t>
            </a:r>
          </a:p>
          <a:p>
            <a:r>
              <a:rPr lang="fr-FR" sz="1600" dirty="0" err="1"/>
              <a:t>resID</a:t>
            </a:r>
            <a:r>
              <a:rPr lang="fr-FR" sz="1600" dirty="0"/>
              <a:t>": 5,"cellID": 2,"processVector": [1,2,1,1,1],"</a:t>
            </a:r>
            <a:r>
              <a:rPr lang="fr-FR" sz="1600" dirty="0" err="1"/>
              <a:t>setupVector</a:t>
            </a:r>
            <a:r>
              <a:rPr lang="fr-FR" sz="1600" dirty="0"/>
              <a:t>": [2,2,2,2,2] </a:t>
            </a:r>
          </a:p>
          <a:p>
            <a:endParaRPr lang="fr-FR" sz="1600" dirty="0"/>
          </a:p>
          <a:p>
            <a:r>
              <a:rPr lang="fr-FR" sz="1600" dirty="0" err="1"/>
              <a:t>resID</a:t>
            </a:r>
            <a:r>
              <a:rPr lang="fr-FR" sz="1600" dirty="0"/>
              <a:t>": 6,"cellID": 3,"processVector": [2,1,1,2,2],"</a:t>
            </a:r>
            <a:r>
              <a:rPr lang="fr-FR" sz="1600" dirty="0" err="1"/>
              <a:t>setupVector</a:t>
            </a:r>
            <a:r>
              <a:rPr lang="fr-FR" sz="1600" dirty="0"/>
              <a:t>": [1,0,2,1,1]</a:t>
            </a:r>
          </a:p>
          <a:p>
            <a:r>
              <a:rPr lang="fr-FR" sz="1600" dirty="0" err="1"/>
              <a:t>resID</a:t>
            </a:r>
            <a:r>
              <a:rPr lang="fr-FR" sz="1600" dirty="0"/>
              <a:t>": 7,"cellID": 3,"processVector": [1,1,2,3,2],"</a:t>
            </a:r>
            <a:r>
              <a:rPr lang="fr-FR" sz="1600" dirty="0" err="1"/>
              <a:t>setupVector</a:t>
            </a:r>
            <a:r>
              <a:rPr lang="fr-FR" sz="1600" dirty="0"/>
              <a:t>": [1,2,0,1,1]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56CE1115-E160-AB80-16D9-ED01178F47C0}"/>
              </a:ext>
            </a:extLst>
          </p:cNvPr>
          <p:cNvSpPr/>
          <p:nvPr/>
        </p:nvSpPr>
        <p:spPr>
          <a:xfrm>
            <a:off x="11825509" y="102479"/>
            <a:ext cx="185963" cy="187200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457EC77-950F-08EC-3398-46E8218D70C7}"/>
              </a:ext>
            </a:extLst>
          </p:cNvPr>
          <p:cNvSpPr/>
          <p:nvPr/>
        </p:nvSpPr>
        <p:spPr>
          <a:xfrm>
            <a:off x="11825509" y="349063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34A3A98-8D65-66BA-213E-42C566723C7C}"/>
              </a:ext>
            </a:extLst>
          </p:cNvPr>
          <p:cNvSpPr/>
          <p:nvPr/>
        </p:nvSpPr>
        <p:spPr>
          <a:xfrm>
            <a:off x="11825511" y="680309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IF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1FFBA48F-3EC2-546D-F033-28E1DCB5DA0A}"/>
              </a:ext>
            </a:extLst>
          </p:cNvPr>
          <p:cNvSpPr/>
          <p:nvPr/>
        </p:nvSpPr>
        <p:spPr>
          <a:xfrm>
            <a:off x="11825510" y="1022985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750" b="1" kern="900" dirty="0">
                <a:solidFill>
                  <a:schemeClr val="tx1"/>
                </a:solidFill>
              </a:rPr>
              <a:t>HR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F2348D5-89CD-111C-8D6F-C48B0E1B063A}"/>
              </a:ext>
            </a:extLst>
          </p:cNvPr>
          <p:cNvSpPr/>
          <p:nvPr/>
        </p:nvSpPr>
        <p:spPr>
          <a:xfrm>
            <a:off x="11825510" y="1386989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HF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37D726D-3D5A-3402-F16F-D850ACB58901}"/>
              </a:ext>
            </a:extLst>
          </p:cNvPr>
          <p:cNvSpPr/>
          <p:nvPr/>
        </p:nvSpPr>
        <p:spPr>
          <a:xfrm>
            <a:off x="11825509" y="1691192"/>
            <a:ext cx="185963" cy="187200"/>
          </a:xfrm>
          <a:prstGeom prst="ellipse">
            <a:avLst/>
          </a:prstGeom>
          <a:solidFill>
            <a:srgbClr val="FFCC6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2043987-89F1-9BD7-2209-D1E64DD6D5F9}"/>
              </a:ext>
            </a:extLst>
          </p:cNvPr>
          <p:cNvSpPr/>
          <p:nvPr/>
        </p:nvSpPr>
        <p:spPr>
          <a:xfrm>
            <a:off x="11825509" y="2001110"/>
            <a:ext cx="185963" cy="187200"/>
          </a:xfrm>
          <a:prstGeom prst="ellipse">
            <a:avLst/>
          </a:prstGeom>
          <a:solidFill>
            <a:srgbClr val="FFCC6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IF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1A31551-3DA0-C725-50F6-B2B10B7B2525}"/>
              </a:ext>
            </a:extLst>
          </p:cNvPr>
          <p:cNvSpPr/>
          <p:nvPr/>
        </p:nvSpPr>
        <p:spPr>
          <a:xfrm>
            <a:off x="11825510" y="2365114"/>
            <a:ext cx="185963" cy="187200"/>
          </a:xfrm>
          <a:prstGeom prst="ellipse">
            <a:avLst/>
          </a:prstGeom>
          <a:solidFill>
            <a:srgbClr val="FFCC6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700" b="1" kern="900" dirty="0">
                <a:solidFill>
                  <a:schemeClr val="tx1"/>
                </a:solidFill>
              </a:rPr>
              <a:t>HR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48F3E4D-22BD-5285-D35E-10CCD62BDAEC}"/>
              </a:ext>
            </a:extLst>
          </p:cNvPr>
          <p:cNvSpPr/>
          <p:nvPr/>
        </p:nvSpPr>
        <p:spPr>
          <a:xfrm>
            <a:off x="11825510" y="2729118"/>
            <a:ext cx="185963" cy="187200"/>
          </a:xfrm>
          <a:prstGeom prst="ellipse">
            <a:avLst/>
          </a:prstGeom>
          <a:solidFill>
            <a:srgbClr val="FFCC6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HF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865AAF6D-A6E0-D43B-0AC7-159CDEDF7FEF}"/>
              </a:ext>
            </a:extLst>
          </p:cNvPr>
          <p:cNvSpPr/>
          <p:nvPr/>
        </p:nvSpPr>
        <p:spPr>
          <a:xfrm>
            <a:off x="6967285" y="835785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HF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B65FF90-9850-E707-0263-1BDCAF2273E4}"/>
              </a:ext>
            </a:extLst>
          </p:cNvPr>
          <p:cNvSpPr/>
          <p:nvPr/>
        </p:nvSpPr>
        <p:spPr>
          <a:xfrm>
            <a:off x="6966303" y="1615975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HF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E29F46F-A1D6-2ABA-43FF-675C3064CD5E}"/>
              </a:ext>
            </a:extLst>
          </p:cNvPr>
          <p:cNvSpPr/>
          <p:nvPr/>
        </p:nvSpPr>
        <p:spPr>
          <a:xfrm>
            <a:off x="6873321" y="2552314"/>
            <a:ext cx="185963" cy="18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HF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34BD07-E0A9-1481-A348-6EB688F645CA}"/>
              </a:ext>
            </a:extLst>
          </p:cNvPr>
          <p:cNvSpPr/>
          <p:nvPr/>
        </p:nvSpPr>
        <p:spPr>
          <a:xfrm>
            <a:off x="11851555" y="3093122"/>
            <a:ext cx="185963" cy="1872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50" b="1" kern="9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E28BF2-114A-7128-489B-41A8CAC7B2E4}"/>
              </a:ext>
            </a:extLst>
          </p:cNvPr>
          <p:cNvSpPr/>
          <p:nvPr/>
        </p:nvSpPr>
        <p:spPr>
          <a:xfrm>
            <a:off x="11851555" y="3404136"/>
            <a:ext cx="185963" cy="1872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IF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0BEC2F-AF27-8D56-DEF6-DBA1DE89F0FC}"/>
              </a:ext>
            </a:extLst>
          </p:cNvPr>
          <p:cNvSpPr/>
          <p:nvPr/>
        </p:nvSpPr>
        <p:spPr>
          <a:xfrm>
            <a:off x="11851555" y="3748930"/>
            <a:ext cx="185963" cy="1872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50" b="1" kern="900" dirty="0">
                <a:solidFill>
                  <a:schemeClr val="tx1"/>
                </a:solidFill>
              </a:rPr>
              <a:t>HR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4889B8-2FD0-C494-3B8D-EBB06BCECFC8}"/>
              </a:ext>
            </a:extLst>
          </p:cNvPr>
          <p:cNvSpPr/>
          <p:nvPr/>
        </p:nvSpPr>
        <p:spPr>
          <a:xfrm>
            <a:off x="11851555" y="4134354"/>
            <a:ext cx="185963" cy="1872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50" b="1" kern="900" dirty="0">
                <a:solidFill>
                  <a:schemeClr val="tx1"/>
                </a:solidFill>
              </a:rPr>
              <a:t>HF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76A67D-D568-ABF6-2E7D-C0265E9D6AA1}"/>
              </a:ext>
            </a:extLst>
          </p:cNvPr>
          <p:cNvSpPr/>
          <p:nvPr/>
        </p:nvSpPr>
        <p:spPr>
          <a:xfrm>
            <a:off x="6966302" y="1079110"/>
            <a:ext cx="185963" cy="1872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10" b="1" kern="900" dirty="0">
                <a:solidFill>
                  <a:schemeClr val="tx1"/>
                </a:solidFill>
              </a:rPr>
              <a:t>IF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897C71-37AC-1B9B-350B-6F1B4811828C}"/>
              </a:ext>
            </a:extLst>
          </p:cNvPr>
          <p:cNvSpPr/>
          <p:nvPr/>
        </p:nvSpPr>
        <p:spPr>
          <a:xfrm>
            <a:off x="6966301" y="1889032"/>
            <a:ext cx="185963" cy="1872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50" b="1" kern="900" dirty="0">
                <a:solidFill>
                  <a:schemeClr val="tx1"/>
                </a:solidFill>
              </a:rPr>
              <a:t>HF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D058FB-8E94-CF80-6E92-3D8BE72A086F}"/>
              </a:ext>
            </a:extLst>
          </p:cNvPr>
          <p:cNvSpPr/>
          <p:nvPr/>
        </p:nvSpPr>
        <p:spPr>
          <a:xfrm>
            <a:off x="6873321" y="2822718"/>
            <a:ext cx="185963" cy="1872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50" b="1" kern="900" dirty="0">
                <a:solidFill>
                  <a:schemeClr val="tx1"/>
                </a:solidFill>
              </a:rPr>
              <a:t>HF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69B59DB5-B76E-6929-DC78-A6868C354F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63"/>
          <a:stretch/>
        </p:blipFill>
        <p:spPr>
          <a:xfrm>
            <a:off x="8235843" y="1982632"/>
            <a:ext cx="3431174" cy="470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639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365</Words>
  <Application>Microsoft Office PowerPoint</Application>
  <PresentationFormat>Grand écran</PresentationFormat>
  <Paragraphs>101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>IUT de Nantes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Wassim BOUAZZA</dc:creator>
  <cp:lastModifiedBy>Wassim BOUAZZA</cp:lastModifiedBy>
  <cp:revision>16</cp:revision>
  <dcterms:created xsi:type="dcterms:W3CDTF">2026-01-20T12:50:35Z</dcterms:created>
  <dcterms:modified xsi:type="dcterms:W3CDTF">2026-01-21T08:18:28Z</dcterms:modified>
</cp:coreProperties>
</file>